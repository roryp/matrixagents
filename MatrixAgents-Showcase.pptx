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58A6FF"/>
                </a:solidFill>
                <a:latin typeface="Segoe UI"/>
              </a:defRPr>
            </a:pPr>
            <a:r>
              <a:t>AI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6EDF3"/>
                </a:solidFill>
                <a:latin typeface="Segoe UI"/>
              </a:defRPr>
            </a:pPr>
            <a:r>
              <a:t>LangChain4j Agentic Patterns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8 agentic patterns with real-time visualization using D3.js and WebSocket 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949E"/>
                </a:solidFill>
                <a:latin typeface="Segoe UI"/>
              </a:defRPr>
            </a:pPr>
            <a:r>
              <a:t>Spring Boot 4.0  •  LangChain4j 1.10  •  React 18  •  D3.js  •  Azure OpenAI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8A6FF"/>
                </a:solidFill>
                <a:latin typeface="Segoe UI"/>
              </a:defRPr>
            </a:pPr>
            <a:r>
              <a:t>Live Dashboard</a:t>
            </a:r>
          </a:p>
        </p:txBody>
      </p:sp>
      <p:pic>
        <p:nvPicPr>
          <p:cNvPr id="3" name="Picture 2" descr="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3609" y="1188720"/>
            <a:ext cx="4844477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8A6FF"/>
                </a:solidFill>
                <a:latin typeface="Segoe UI"/>
              </a:defRPr>
            </a:pPr>
            <a:r>
              <a:t>Technical 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685" y="1188720"/>
            <a:ext cx="8696325" cy="50482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8A6FF"/>
                </a:solidFill>
                <a:latin typeface="Segoe UI"/>
              </a:defRPr>
            </a:pPr>
            <a:r>
              <a:t>8 Agentic Patterns Overview</a:t>
            </a:r>
          </a:p>
        </p:txBody>
      </p:sp>
      <p:pic>
        <p:nvPicPr>
          <p:cNvPr id="3" name="Picture 2" descr="patterns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787" y="1188720"/>
            <a:ext cx="781812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1. Sequential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Chain — Deterministic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Agents run one after another, like an assembly line</a:t>
            </a:r>
            <a:br/>
            <a:r>
              <a:t>•  Each step depends on the previous step's output</a:t>
            </a:r>
            <a:br/>
            <a:r>
              <a:t>•  Example: CreativeWriter → AudienceEditor → StyleEditor</a:t>
            </a:r>
            <a:br/>
            <a:r>
              <a:t>•  API: AgenticServices.sequenceBuilder()</a:t>
            </a:r>
          </a:p>
        </p:txBody>
      </p:sp>
      <p:pic>
        <p:nvPicPr>
          <p:cNvPr id="5" name="Picture 4" descr="pattern-sequent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2. Parallel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Fan-out — Deterministic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Multiple agents run simultaneously, results combined</a:t>
            </a:r>
            <a:br/>
            <a:r>
              <a:t>•  Get diverse perspectives quickly</a:t>
            </a:r>
            <a:br/>
            <a:r>
              <a:t>•  Example: FoodExpert + MovieExpert → Combiner</a:t>
            </a:r>
            <a:br/>
            <a:r>
              <a:t>•  API: @Parallel annotation with createAgenticSystem()</a:t>
            </a:r>
          </a:p>
        </p:txBody>
      </p:sp>
      <p:pic>
        <p:nvPicPr>
          <p:cNvPr id="5" name="Picture 4" descr="pattern-parall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3. Loop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Cycle — Deterministic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Iterative refinement until quality threshold is met</a:t>
            </a:r>
            <a:br/>
            <a:r>
              <a:t>•  Quality matters more than speed</a:t>
            </a:r>
            <a:br/>
            <a:r>
              <a:t>•  Example: Writer → Scorer → Editor (repeat until score ≥ 0.8)</a:t>
            </a:r>
            <a:br/>
            <a:r>
              <a:t>•  API: AgenticServices.loopBuilder()</a:t>
            </a:r>
          </a:p>
        </p:txBody>
      </p:sp>
      <p:pic>
        <p:nvPicPr>
          <p:cNvPr id="5" name="Picture 4" descr="pattern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4. Conditional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Branch — Deterministic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Routes to different specialist agents based on input</a:t>
            </a:r>
            <a:br/>
            <a:r>
              <a:t>•  Different inputs need different expertise</a:t>
            </a:r>
            <a:br/>
            <a:r>
              <a:t>•  Example: CategoryRouter → Medical / Legal / Technical Expert</a:t>
            </a:r>
            <a:br/>
            <a:r>
              <a:t>•  API: @Conditional annotation with createAgenticSystem()</a:t>
            </a:r>
          </a:p>
        </p:txBody>
      </p:sp>
      <p:pic>
        <p:nvPicPr>
          <p:cNvPr id="5" name="Picture 4" descr="pattern-condi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5. Supervisor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Star — LLM-Driven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A 'boss' agent plans and delegates to worker agents</a:t>
            </a:r>
            <a:br/>
            <a:r>
              <a:t>•  LLM intelligence decides task decomposition</a:t>
            </a:r>
            <a:br/>
            <a:r>
              <a:t>•  Example: BankSupervisor → Withdraw / Credit / Exchange Agent</a:t>
            </a:r>
            <a:br/>
            <a:r>
              <a:t>•  API: AgenticServices.supervisorBuilder()</a:t>
            </a:r>
          </a:p>
        </p:txBody>
      </p:sp>
      <p:pic>
        <p:nvPicPr>
          <p:cNvPr id="5" name="Picture 4" descr="pattern-super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6. Human-in-the-Loop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Gated — LLM-Driven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Pauses execution for human input or approval</a:t>
            </a:r>
            <a:br/>
            <a:r>
              <a:t>•  High-stakes decisions, compliance requirements</a:t>
            </a:r>
            <a:br/>
            <a:r>
              <a:t>•  Example: ZodiacExtractor → Human Input → HoroscopeAgent</a:t>
            </a:r>
            <a:br/>
            <a:r>
              <a:t>•  API: AgenticServices.agentBuilder() with WebSocket events</a:t>
            </a:r>
          </a:p>
        </p:txBody>
      </p:sp>
      <p:pic>
        <p:nvPicPr>
          <p:cNvPr id="5" name="Picture 4" descr="pattern-humanin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7. GOAP — Goal-Oriented Action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DAG — Custom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Finds optimal sequence of agents to reach a goal</a:t>
            </a:r>
            <a:br/>
            <a:r>
              <a:t>•  Like GPS finding the shortest route</a:t>
            </a:r>
            <a:br/>
            <a:r>
              <a:t>•  Example: SignExtractor → (Horoscope + StoryFinder) → Writer</a:t>
            </a:r>
            <a:br/>
            <a:r>
              <a:t>•  API: plannerBuilder() + GoalOrientedPlanner</a:t>
            </a:r>
          </a:p>
        </p:txBody>
      </p:sp>
      <p:pic>
        <p:nvPicPr>
          <p:cNvPr id="5" name="Picture 4" descr="pattern-g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Segoe UI"/>
              </a:defRPr>
            </a:pPr>
            <a:r>
              <a:t>8. P2P — Peer-to-Peer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Segoe UI"/>
              </a:defRPr>
            </a:pPr>
            <a:r>
              <a:t>Mesh — Custom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EDF3"/>
                </a:solidFill>
                <a:latin typeface="Segoe UI"/>
              </a:defRPr>
            </a:pPr>
            <a:r>
              <a:t>•  Agents collaborate as equals without a central controller</a:t>
            </a:r>
            <a:br/>
            <a:r>
              <a:t>•  Emergent collaboration for research &amp; brainstorming</a:t>
            </a:r>
            <a:br/>
            <a:r>
              <a:t>•  Example: Literature → Hypothesis → Critic → Validation → Scorer</a:t>
            </a:r>
            <a:br/>
            <a:r>
              <a:t>•  API: plannerBuilder() + P2PPlanner (threshold ≥ 0.75)</a:t>
            </a:r>
          </a:p>
        </p:txBody>
      </p:sp>
      <p:pic>
        <p:nvPicPr>
          <p:cNvPr id="5" name="Picture 4" descr="pattern-p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8A6FF"/>
                </a:solidFill>
                <a:latin typeface="Segoe UI"/>
              </a:defRPr>
            </a:pPr>
            <a:r>
              <a:t>Choosing the Right Pattern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23847" y="1371600"/>
          <a:ext cx="9144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3200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58A6FF"/>
                          </a:solidFill>
                          <a:latin typeface="Segoe UI"/>
                        </a:defRPr>
                      </a:pPr>
                      <a:r>
                        <a:t>Situation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58A6FF"/>
                          </a:solidFill>
                          <a:latin typeface="Segoe UI"/>
                        </a:defRPr>
                      </a:pPr>
                      <a:r>
                        <a:t>Recommended Pattern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Simple pipeline with clear steps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Sequential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Need multiple perspectives fast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Parallel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Quality is critical, time isn't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Loop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Different inputs need different handling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Conditional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Complex task, unclear how to break down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Supervisor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Need human approval or input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Human-in-the-Loop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Many dependencies, need optimal path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GOAP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Creative / brainstorming collaboration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6EDF3"/>
                          </a:solidFill>
                          <a:latin typeface="Segoe UI"/>
                        </a:defRPr>
                      </a:pPr>
                      <a:r>
                        <a:t>P2P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8A6FF"/>
                </a:solidFill>
                <a:latin typeface="Segoe UI"/>
              </a:defRPr>
            </a:pPr>
            <a: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6EDF3"/>
                </a:solidFill>
                <a:latin typeface="Segoe UI"/>
              </a:defRPr>
            </a:pPr>
            <a:r>
              <a:t>Backend</a:t>
            </a:r>
            <a:br/>
            <a:br/>
            <a:r>
              <a:t>•  Java 21 with Virtual Threads</a:t>
            </a:r>
            <a:br/>
            <a:r>
              <a:t>•  Spring Boot 4.0</a:t>
            </a:r>
            <a:br/>
            <a:r>
              <a:t>•  LangChain4j 1.10.0 (Core)</a:t>
            </a:r>
            <a:br/>
            <a:r>
              <a:t>•  LangChain4j Agentic 1.10.0-beta18</a:t>
            </a:r>
            <a:br/>
            <a:r>
              <a:t>•  Azure OpenAI integration</a:t>
            </a:r>
            <a:br/>
            <a:r>
              <a:t>•  STOMP over SockJS WebSockets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6EDF3"/>
                </a:solidFill>
                <a:latin typeface="Segoe UI"/>
              </a:defRPr>
            </a:pPr>
            <a:r>
              <a:t>Frontend</a:t>
            </a:r>
            <a:br/>
            <a:br/>
            <a:r>
              <a:t>•  React 18 with TypeScript</a:t>
            </a:r>
            <a:br/>
            <a:r>
              <a:t>•  Vite 5 build tool</a:t>
            </a:r>
            <a:br/>
            <a:r>
              <a:t>•  D3.js for visualizations</a:t>
            </a:r>
            <a:br/>
            <a:r>
              <a:t>•  Tailwind CSS for styling</a:t>
            </a:r>
            <a:br/>
            <a:r>
              <a:t>•  React Router for navigation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8A6FF"/>
                </a:solidFill>
                <a:latin typeface="Segoe UI"/>
              </a:defRPr>
            </a:pPr>
            <a:r>
              <a:t>AgenticScope: Unified State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6EDF3"/>
                </a:solidFill>
                <a:latin typeface="Segoe UI"/>
              </a:defRPr>
            </a:pPr>
            <a:r>
              <a:t>All 8 patterns use LangChain4j's AgenticServices builders with AgenticScope</a:t>
            </a:r>
            <a:br/>
            <a:br/>
            <a:r>
              <a:t>•  State sharing between agents via scope.readState() / scope.writeState()</a:t>
            </a:r>
            <a:br/>
            <a:r>
              <a:t>•  Output key mapping via @Agent(outputKey = "result")</a:t>
            </a:r>
            <a:br/>
            <a:r>
              <a:t>•  Agent invocation tracking for debugging</a:t>
            </a:r>
            <a:br/>
            <a:r>
              <a:t>•  Real-time events via AgentListener for WebSocket streaming</a:t>
            </a:r>
            <a:br/>
            <a:br/>
            <a:r>
              <a:t>Two Equivalent Approaches:</a:t>
            </a:r>
            <a:br/>
            <a:br/>
            <a:r>
              <a:t>•  Programmatic — Builder APIs (sequenceBuilder, loopBuilder, etc.)</a:t>
            </a:r>
            <a:br/>
            <a:r>
              <a:t>   Best for dynamic workflows and runtime configuration</a:t>
            </a:r>
            <a:br/>
            <a:br/>
            <a:r>
              <a:t>•  Declarative — Annotations + createAgenticSystem()</a:t>
            </a:r>
            <a:br/>
            <a:r>
              <a:t>   Best for simple, readable definitions with compile-time 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