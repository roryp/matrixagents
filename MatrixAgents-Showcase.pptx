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58A6FF"/>
                </a:solidFill>
                <a:latin typeface="Segoe UI"/>
              </a:defRPr>
            </a:pPr>
            <a:r>
              <a:t>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6EDF3"/>
                </a:solidFill>
                <a:latin typeface="Segoe UI"/>
              </a:defRPr>
            </a:pPr>
            <a:r>
              <a:t>LangChain4j Agentic Patterns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E6EDF3"/>
                </a:solidFill>
                <a:latin typeface="Segoe UI"/>
              </a:defRPr>
            </a:pPr>
            <a:r>
              <a:t>11 agentic patterns with real-time visualization using D3.js and WebSocket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Quarkus 3.30  •  LangChain4j 1.18  •  React 18  •  D3.js  •  Azure OpenAI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Live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346200"/>
            <a:ext cx="10789920" cy="3296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5074920"/>
            <a:ext cx="3547872" cy="960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5230368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WORKFLOW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5596128"/>
            <a:ext cx="3218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Sequential · Parallel · Mapper · Loop · Conditional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5074920"/>
            <a:ext cx="3547872" cy="960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5230368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84FC"/>
                </a:solidFill>
                <a:latin typeface="Segoe UI"/>
              </a:defRPr>
            </a:pPr>
            <a:r>
              <a:t>AGENTIC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5596128"/>
            <a:ext cx="3218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Supervisor · Human-in-the-Loop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7575" y="5074920"/>
            <a:ext cx="3547872" cy="960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7" y="5230368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PLANNING ·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7" y="5596128"/>
            <a:ext cx="3218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GOAP · P2P · Debate · Voting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Azure Deployment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174" y="1097280"/>
            <a:ext cx="799534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11 Agentic Patterns Overview</a:t>
            </a:r>
          </a:p>
        </p:txBody>
      </p:sp>
      <p:pic>
        <p:nvPicPr>
          <p:cNvPr id="3" name="Picture 2" descr="pattern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005" y="1188720"/>
            <a:ext cx="808368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1. Sequential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Chain Orchestration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2473649"/>
            <a:ext cx="11064240" cy="1042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Agents run one after another, like an assembly line</a:t>
            </a:r>
            <a:br/>
            <a:r>
              <a:t>•  Each step depends on the previous step's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Example: CreativeWriter → AudienceEditor → StyleEditor</a:t>
            </a:r>
            <a:br/>
            <a:r>
              <a:t>•  API: AgenticServices.sequenceBuilder()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2. Parallel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Fan-out Orchestration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750654"/>
            <a:ext cx="11064240" cy="2488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Multiple agents run simultaneously, results combined</a:t>
            </a:r>
            <a:br/>
            <a:r>
              <a:t>•  Get diverse perspectives quickly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Example: FoodExpert + MovieExpert → Combiner</a:t>
            </a:r>
            <a:br/>
            <a:r>
              <a:t>•  API: @Parallel annotation with createAgenticSystem()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3. Parallel Mapper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Concurrent Map-Reduce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630" y="1234440"/>
            <a:ext cx="4864500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155448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Segoe UI"/>
              </a:defRPr>
            </a:pPr>
            <a:r>
              <a:t>•  Creates one worker instance per collection item</a:t>
            </a:r>
            <a:br/>
            <a:br/>
            <a:r>
              <a:t>•  Processes the full batch concurrently while preserving order</a:t>
            </a:r>
            <a:br/>
            <a:br/>
            <a:r>
              <a:t>•  Example: Review batch → ReviewAnalyzer workers → Report</a:t>
            </a:r>
            <a:br/>
            <a:br/>
            <a:r>
              <a:t>•  API: AgenticServices.parallelMapperBuilder()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4. Loop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Cycle Orchestration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989425"/>
            <a:ext cx="11064240" cy="2010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Iterative refinement until quality threshold is met</a:t>
            </a:r>
            <a:br/>
            <a:r>
              <a:t>•  Quality matters more than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Example: Writer → Scorer → Editor (repeat until score ≥ 0.8)</a:t>
            </a:r>
            <a:br/>
            <a:r>
              <a:t>•  API: AgenticServices.loopBuilder()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5. Conditional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Branch Orchestration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852974"/>
            <a:ext cx="11064240" cy="22833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Routes to different specialist agents based on input</a:t>
            </a:r>
            <a:br/>
            <a:r>
              <a:t>•  Different inputs need different expertise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Example: CategoryRouter → Medical / Legal / Technical Expert</a:t>
            </a:r>
            <a:br/>
            <a:r>
              <a:t>•  API: @Conditional annotation with createAgenticSystem()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6. Supervisor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Star Orchestration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376804"/>
            <a:ext cx="11064240" cy="3235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A 'boss' agent plans and delegates to worker agents</a:t>
            </a:r>
            <a:br/>
            <a:r>
              <a:t>•  LLM intelligence decides task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Example: BankSupervisor → Withdraw / Credit / Exchange Agent</a:t>
            </a:r>
            <a:br/>
            <a:r>
              <a:t>•  API: AgenticServices.supervisorBuilder()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7. Human-in-the-Loop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Gated Orchestration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2010509"/>
            <a:ext cx="11064240" cy="19683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Pauses execution for human input or approval</a:t>
            </a:r>
            <a:br/>
            <a:r>
              <a:t>•  High-stakes decisions, compliance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Example: ZodiacExtractor → Human Input → HoroscopeAgent</a:t>
            </a:r>
            <a:br/>
            <a:r>
              <a:t>•  API: AgenticServices.agentBuilder() with WebSocket events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8. GOAP — Goal-Oriented Action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DAG — Custom Planner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2160561"/>
            <a:ext cx="11064240" cy="16681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Finds optimal sequence of agents to reach a goal</a:t>
            </a:r>
            <a:br/>
            <a:r>
              <a:t>•  Like GPS finding the shortest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Example: CityParser → (Distances + Attractions) → Itinerary</a:t>
            </a:r>
            <a:br/>
            <a:r>
              <a:t>•  API: plannerBuilder() + GoalOrientedPlanner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9. P2P — Peer-to-Peer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Mesh — Custom Planner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415505"/>
            <a:ext cx="11064240" cy="3158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Agents collaborate as equals without a central controller</a:t>
            </a:r>
            <a:br/>
            <a:r>
              <a:t>•  Emergent collaboration for research &amp; brainstorming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8920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Example: Literature → Hypothesis → Critic → Validation → Scorer</a:t>
            </a:r>
            <a:br/>
            <a:r>
              <a:t>•  API: plannerBuilder() + P2PPlanner (threshold ≥ 0.75)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10. Debate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Multi-Round Panel — Custom Planner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683" y="1234440"/>
            <a:ext cx="4754394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155448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Segoe UI"/>
              </a:defRPr>
            </a:pPr>
            <a:r>
              <a:t>•  Opposing perspectives refine arguments in parallel rounds</a:t>
            </a:r>
            <a:br/>
            <a:br/>
            <a:r>
              <a:t>•  Shared debate context lets agents respond to prior positions</a:t>
            </a:r>
            <a:br/>
            <a:br/>
            <a:r>
              <a:t>•  Example: Proponent + Skeptic + Pragmatist → Judge</a:t>
            </a:r>
            <a:br/>
            <a:br/>
            <a:r>
              <a:t>•  API: plannerBuilder() + DebatePlanner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11. Voting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Ensemble Decision — Custom Planner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6601"/>
            <a:ext cx="6126480" cy="50449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155448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Segoe UI"/>
              </a:defRPr>
            </a:pPr>
            <a:r>
              <a:t>•  Independent specialists cast comparable categorical ballots</a:t>
            </a:r>
            <a:br/>
            <a:br/>
            <a:r>
              <a:t>•  A voting strategy aggregates one collective decision</a:t>
            </a:r>
            <a:br/>
            <a:br/>
            <a:r>
              <a:t>•  Example: Growth + Value + Risk analysts → Majority</a:t>
            </a:r>
            <a:br/>
            <a:br/>
            <a:r>
              <a:t>•  API: plannerBuilder() + VotingPlanner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Choosing the Right Pattern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3847" y="1371600"/>
          <a:ext cx="9144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32004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8A6FF"/>
                          </a:solidFill>
                          <a:latin typeface="Segoe UI"/>
                        </a:defRPr>
                      </a:pPr>
                      <a:r>
                        <a:t>Situation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8A6FF"/>
                          </a:solidFill>
                          <a:latin typeface="Segoe UI"/>
                        </a:defRPr>
                      </a:pPr>
                      <a:r>
                        <a:t>Recommended Pattern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Simple pipeline with clear steps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Sequential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Need multiple perspectives fast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Parallel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Apply one operation to many items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Parallel Mapper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Quality is critical, time isn't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Loop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Different inputs need different handling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Complex task, unclear how to break down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Supervisor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Need human approval or input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Human-in-the-Loop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Many dependencies, need optimal path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GOAP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Creative / brainstorming collaboration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P2P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Need competing arguments examined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Debate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Need a robust categorical decision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EDF3"/>
                          </a:solidFill>
                          <a:latin typeface="Segoe UI"/>
                        </a:defRPr>
                      </a:pPr>
                      <a:r>
                        <a:t>Voting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303520" cy="35204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58A6FF"/>
                </a:solidFill>
                <a:latin typeface="Segoe UI"/>
              </a:defRPr>
            </a:pPr>
            <a:r>
              <a:t>Backend +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46177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Segoe UI"/>
              </a:defRPr>
            </a:pPr>
            <a:r>
              <a:t>•  Java 21 with Virtual Threads</a:t>
            </a:r>
            <a:br/>
            <a:r>
              <a:t>•  Quarkus 3.30</a:t>
            </a:r>
            <a:br/>
            <a:r>
              <a:t>•  LangChain4j 1.18.0 (Core)</a:t>
            </a:r>
            <a:br/>
            <a:r>
              <a:t>•  LangChain4j Agentic 1.18.0-beta28</a:t>
            </a:r>
            <a:br/>
            <a:r>
              <a:t>•  Agentic Patterns 1.18.0-beta28</a:t>
            </a:r>
            <a:br/>
            <a:r>
              <a:t>•  Azure OpenAI integration</a:t>
            </a:r>
            <a:br/>
            <a:r>
              <a:t>•  Native Quarkus WebSockets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25880"/>
            <a:ext cx="5303520" cy="35204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FB950"/>
                </a:solidFill>
                <a:latin typeface="Segoe UI"/>
              </a:defRPr>
            </a:pPr>
            <a:r>
              <a:t>Frontend +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2240280"/>
            <a:ext cx="46177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Segoe UI"/>
              </a:defRPr>
            </a:pPr>
            <a:r>
              <a:t>•  React 18 with TypeScript</a:t>
            </a:r>
            <a:br/>
            <a:r>
              <a:t>•  Vite 5 build tool</a:t>
            </a:r>
            <a:br/>
            <a:r>
              <a:t>•  D3.js for visualizations</a:t>
            </a:r>
            <a:br/>
            <a:r>
              <a:t>•  Tailwind CSS for styling</a:t>
            </a:r>
            <a:br/>
            <a:r>
              <a:t>•  React Router for navigation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257800"/>
            <a:ext cx="2834640" cy="86868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2239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3"/>
                </a:solidFill>
                <a:latin typeface="Segoe UI"/>
              </a:defRPr>
            </a:pPr>
            <a:r>
              <a:t>Azure OpenAI</a:t>
            </a:r>
            <a:br/>
            <a:r>
              <a:t>reasoning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5257800"/>
            <a:ext cx="2834640" cy="868680"/>
          </a:xfrm>
          <a:prstGeom prst="roundRect">
            <a:avLst/>
          </a:prstGeom>
          <a:solidFill>
            <a:srgbClr val="161B22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542239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3"/>
                </a:solidFill>
                <a:latin typeface="Segoe UI"/>
              </a:defRPr>
            </a:pPr>
            <a:r>
              <a:t>Quarkus + LangChain4j</a:t>
            </a:r>
            <a:br/>
            <a:r>
              <a:t>orchestration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85632" y="5257800"/>
            <a:ext cx="2834640" cy="868680"/>
          </a:xfrm>
          <a:prstGeom prst="roundRect">
            <a:avLst/>
          </a:prstGeom>
          <a:solidFill>
            <a:srgbClr val="161B22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542239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3"/>
                </a:solidFill>
                <a:latin typeface="Segoe UI"/>
              </a:defRPr>
            </a:pPr>
            <a:r>
              <a:t>React + D3</a:t>
            </a:r>
            <a:br/>
            <a:r>
              <a:t>live visualization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3950208" y="5468112"/>
            <a:ext cx="502920" cy="411480"/>
          </a:xfrm>
          <a:prstGeom prst="chevron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754112" y="5468112"/>
            <a:ext cx="502920" cy="411480"/>
          </a:xfrm>
          <a:prstGeom prst="chevron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AgenticScope: Unified State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E6EDF3"/>
                </a:solidFill>
                <a:latin typeface="Segoe UI"/>
              </a:defRPr>
            </a:pPr>
            <a:r>
              <a:t>All 11 patterns coordinate through one shared AgenticScope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  <a:latin typeface="Segoe UI"/>
              </a:defRPr>
            </a:pPr>
            <a:r>
              <a:t>•  Shared state via readState() / writeState()     •  Output mapping via @Agent(outputKey = ...)</a:t>
            </a:r>
            <a:br/>
            <a:r>
              <a:t>•  Invocation tracking for debugging              •  AgentListener events for real-time visualization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26080"/>
            <a:ext cx="5303520" cy="1508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1821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PROGRAMMATIC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11880"/>
            <a:ext cx="4709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Builder APIs such as sequenceBuilder() and loopBuilder()</a:t>
            </a:r>
            <a:br/>
            <a:r>
              <a:t>Best for dynamic workflows and runtime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926080"/>
            <a:ext cx="5303520" cy="1508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31821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DECLARATIVE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3611880"/>
            <a:ext cx="4709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Annotations plus createAgenticSystem()</a:t>
            </a:r>
            <a:br/>
            <a:r>
              <a:t>Best for concise definitions with compile-time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120640"/>
            <a:ext cx="2834640" cy="960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285232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6EDF3"/>
                </a:solidFill>
                <a:latin typeface="Segoe UI"/>
              </a:defRPr>
            </a:pPr>
            <a:r>
              <a:t>Agent A</a:t>
            </a:r>
            <a:br/>
            <a:r>
              <a:t>writes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5120640"/>
            <a:ext cx="2834640" cy="960120"/>
          </a:xfrm>
          <a:prstGeom prst="roundRect">
            <a:avLst/>
          </a:prstGeom>
          <a:solidFill>
            <a:srgbClr val="161B22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5285232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EDF3"/>
                </a:solidFill>
                <a:latin typeface="Segoe UI"/>
              </a:defRPr>
            </a:pPr>
            <a:r>
              <a:t>AgenticScope</a:t>
            </a:r>
            <a:br/>
            <a:r>
              <a:t>shared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5120640"/>
            <a:ext cx="2834640" cy="960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5285232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6EDF3"/>
                </a:solidFill>
                <a:latin typeface="Segoe UI"/>
              </a:defRPr>
            </a:pPr>
            <a:r>
              <a:t>Agent B</a:t>
            </a:r>
            <a:br/>
            <a:r>
              <a:t>reads input</a:t>
            </a:r>
          </a:p>
        </p:txBody>
      </p:sp>
      <p:sp>
        <p:nvSpPr>
          <p:cNvPr id="17" name="Chevron 16"/>
          <p:cNvSpPr/>
          <p:nvPr/>
        </p:nvSpPr>
        <p:spPr>
          <a:xfrm>
            <a:off x="3977639" y="5376672"/>
            <a:ext cx="502920" cy="438912"/>
          </a:xfrm>
          <a:prstGeom prst="chevron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680960" y="5376672"/>
            <a:ext cx="502920" cy="438912"/>
          </a:xfrm>
          <a:prstGeom prst="chevron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